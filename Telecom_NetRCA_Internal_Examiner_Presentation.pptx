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6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capstone prototype designed to assist NOC engineers, not autonomously operate a telecom network. Live Gemini has been validated for one incident; wider incident support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problem: operators correlate alarms, optical power, packet loss, and historical SOPs manually. NetRCA shortens investigation support, preserving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through workflow left to right. Parallel Alarm, KPI and Historical analyses merge. Retrieval grounds RCA. Deterministic thresholds route to human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deliberately deterministic, preparing clean evidence and historical matches. Figures from the project status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 retrieves SOP passages at run time; unlike direct freeform generation, the system exposes source IDs. Retrieval ranking does not guarantee claims are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specialized roles. Historical records are local; the live agent reasoning comes from Gemini when live mode is selected. Phase 3 baseline 508 passed, one live deselected.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a graph: shared state, branching, review pauses/checkpoint resume and explicit flow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distinction between deterministic policy score and true model accuracy. Provider 503 can consume attempts, and retry budget is enforced.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 showcase proved UI/workflow with fixture responses. The real live inference verification came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previous corporate run exhausted 9/9 attempts and lost KPI/Recommendation. A later morning run succeeded in all five agents using 6/9. These are live API calls; not production accuracy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dBm readings carefully: the difference is 14.8 dB, not a percentage. RCA is a hypothesis consistent with symptoms; exact fiber vs connector vs SFP needs physical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strength to discuss: backend detects invalid citations. Yet semantic citation grounding needs reviewer confirmation, and a safe recommendation should cite an actual procedure where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controlled live demo, ideally the already successful INC-1004 result to avoid extra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Telecom Root Cause Analysis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+ Retrieval-Augmented Generation + Human Approval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alarms and KPIs to explainable incident triage, probable RCA, safer recommendations and a reviewable report.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and our goal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NOC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alarms, time-series KPIs and incident records must be correlated under time pressure.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987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7446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446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an evidence-linked probable root cause with understandable reasoning.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939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5398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398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Humans approve or reject recommendations. No automatic network changes.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 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85216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incidents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alarms + KPI logs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84248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84832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94560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76272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normalize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+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93592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94176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03904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evidence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5616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 / KPI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agents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02936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03520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13248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Chroma RAG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 evidence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12280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912864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022592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04304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RCA + confidence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routing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21624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8522208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8631936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13648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human review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30968" y="2670048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80A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0131552" y="2057400"/>
            <a:ext cx="1490472" cy="1554480"/>
          </a:xfrm>
          <a:prstGeom prst="roundRect">
            <a:avLst>
              <a:gd name="adj" fmla="val 8589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0241280" y="2267712"/>
            <a:ext cx="1271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222992" y="2734056"/>
            <a:ext cx="1307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trace history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343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components handle validation, scoring and routing; LLM agents generate structured analysis and recommendations.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Telecom data foundation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synthetic incident records and 231 alarm/event/KPI rows.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resolved historical incidents available for comparison.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normalization, event parsing and explainable P1–P4 severity.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227 Phase 1 tests reported passing.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Knowledge base and RAG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sources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telecom SOP/reference documents with traceable source identifiers.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all-MiniLM-L6-v2; 384-dimensional vector representation.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store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local ChromaDB; 105 indexed document chunks.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policy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citations and weak-retrieval detection; retrieval is not proof.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The five AI agents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Alarm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Interprets sequence, alarm families and symptom patterns.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0987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7446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KPI Agent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7446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trends and correlation in telecom metrics.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89392" y="1737360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53984" y="1901952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Historical Agent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53984" y="2313432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Compares current symptoms with resolved incident patterns.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" y="3355848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4944" y="3520440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RCA 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" y="3931920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Proposes a probable cause, alternatives and uncertainty.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09872" y="3355848"/>
            <a:ext cx="359664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74464" y="3520440"/>
            <a:ext cx="3267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Recommendation 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74464" y="3931920"/>
            <a:ext cx="32674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Suggests guarded next steps and verification checks.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52852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 — LangGraph orchestration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4128" y="1581912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Parallel analyses → merge → RAG retrieval → RCA → confidence boundary.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31520" y="2258568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4128" y="2194560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router decides escalation and human approval path.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2871216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024128" y="2807208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decisions: approve, reject, revise or hand off.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483864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024128" y="3419856"/>
            <a:ext cx="104241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generator executes only after appropriate workflow decisions.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5 — Reliability, confidence and traces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policy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weighted evidence signals and contradiction penalty; not probability of truth.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resilience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attempts, typed failures, repair and fallback paths.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Correlated node/agent traces with privacy-safe event logging.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Rotating JSONL trace logs and lifecycle controls.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6 — Streamlit demo and human review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explorer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incident, inspect alarms, KPI time series and evidence.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actions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Run, pause at Human Review, approve/reject/revise/handoff.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visibility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RCA, citations, confidence explanation and errors.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final backend-generated Markdown report.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7 — Real Gemini inference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9494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switch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consent and Run Analysis initiate real Gemini requests.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9632" y="1737360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364224" y="1901952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4224" y="2313432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incident evidence + local retrieved SOP chunks sent to model.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494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494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physical API calls, pacing, sanitized error visibility.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99632" y="3355848"/>
            <a:ext cx="5486400" cy="1389888"/>
          </a:xfrm>
          <a:prstGeom prst="roundRect">
            <a:avLst>
              <a:gd name="adj" fmla="val 9211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364224" y="3520440"/>
            <a:ext cx="5157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64224" y="3931920"/>
            <a:ext cx="5157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multi-incident support not yet validated; semantic claims need review.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walkthrough — INC-1004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32104" y="17099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33472" y="16733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backhaul degradation | Router RTR-W-022-01 | WEST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" y="23957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33472" y="23591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RX power −9.8 → −24.6 dBm (−14.8 dB change); CRC/FEC errors, packet loss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32104" y="30815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Probable RCA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33472" y="30449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Optical-path degradation on interface Gi0/2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32104" y="37673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33472" y="37307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inspection of fiber/connections; verify recovery metrics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32104" y="44531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execution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33472" y="44165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agent outputs; 6 of 9 API attempts; review paused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10835640" cy="576072"/>
          </a:xfrm>
          <a:prstGeom prst="roundRect">
            <a:avLst>
              <a:gd name="adj" fmla="val 22222"/>
            </a:avLst>
          </a:prstGeom>
          <a:solidFill>
            <a:srgbClr val="142238"/>
          </a:solidFill>
          <a:ln w="12700">
            <a:solidFill>
              <a:srgbClr val="14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32104" y="5138928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status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33472" y="5102352"/>
            <a:ext cx="8595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 → escalated human review; no automatic network action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citations and reviewer judgment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94944" y="160020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87552" y="153619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Retrieved source IDs exist, but existence does NOT prove a claim is supported.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94944" y="233172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7552" y="226771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citation reference was dropped by backend validation in the live run.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94944" y="306324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87552" y="299923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SOP-PKT-001#c001 covers symptoms, not an approved intervention procedure.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94944" y="379476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87552" y="373075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Evidence-support score 1.00 is policy alignment — NOT 100% accuracy.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94944" y="4526280"/>
            <a:ext cx="109728" cy="109728"/>
          </a:xfrm>
          <a:prstGeom prst="roundRect">
            <a:avLst>
              <a:gd name="adj" fmla="val 116667"/>
            </a:avLst>
          </a:prstGeom>
          <a:solidFill>
            <a:srgbClr val="3BD6BD"/>
          </a:solidFill>
          <a:ln w="12700">
            <a:solidFill>
              <a:srgbClr val="3BD6B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87552" y="4462272"/>
            <a:ext cx="10287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reviewer should challenge unsupported remediation and uncertainty.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7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  •  CAPSTONE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11155680" cy="0"/>
          </a:xfrm>
          <a:prstGeom prst="line">
            <a:avLst/>
          </a:prstGeom>
          <a:noFill/>
          <a:ln w="12700">
            <a:solidFill>
              <a:srgbClr val="263B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8229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64240" y="64922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10378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NetRCA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9829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3BD6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first. Bounded automation. Human decisions.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4636008"/>
            <a:ext cx="9829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8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Demo: incident → agents → probable RCA → citations → review → report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1138</Words>
  <Application>Microsoft Office PowerPoint</Application>
  <PresentationFormat>Widescreen</PresentationFormat>
  <Paragraphs>175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NetRCA — Evidence-Grounded Agentic RCA</dc:title>
  <dc:subject>Capstone examiner presentation</dc:subject>
  <dc:creator>Telecom NetRCA Capstone</dc:creator>
  <cp:lastModifiedBy>Bonny David(UST,IN)</cp:lastModifiedBy>
  <cp:revision>3</cp:revision>
  <dcterms:created xsi:type="dcterms:W3CDTF">2026-10-23T03:37:56Z</dcterms:created>
  <dcterms:modified xsi:type="dcterms:W3CDTF">2026-10-23T06:17:16Z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ffddfa-74ad-4c1f-9757-a38a11902f1c_Enabled">
    <vt:lpwstr>true</vt:lpwstr>
  </property>
  <property fmtid="{D5CDD505-2E9C-101B-9397-08002B2CF9AE}" pid="3" name="MSIP_Label_15ffddfa-74ad-4c1f-9757-a38a11902f1c_SetDate">
    <vt:lpwstr>2026-10-23T06:06:11Z</vt:lpwstr>
  </property>
  <property fmtid="{D5CDD505-2E9C-101B-9397-08002B2CF9AE}" pid="4" name="MSIP_Label_15ffddfa-74ad-4c1f-9757-a38a11902f1c_Method">
    <vt:lpwstr>Standard</vt:lpwstr>
  </property>
  <property fmtid="{D5CDD505-2E9C-101B-9397-08002B2CF9AE}" pid="5" name="MSIP_Label_15ffddfa-74ad-4c1f-9757-a38a11902f1c_Name">
    <vt:lpwstr>UST Internal</vt:lpwstr>
  </property>
  <property fmtid="{D5CDD505-2E9C-101B-9397-08002B2CF9AE}" pid="6" name="MSIP_Label_15ffddfa-74ad-4c1f-9757-a38a11902f1c_SiteId">
    <vt:lpwstr>a4431f4b-c207-4733-9530-34c08a9b2b8d</vt:lpwstr>
  </property>
  <property fmtid="{D5CDD505-2E9C-101B-9397-08002B2CF9AE}" pid="7" name="MSIP_Label_15ffddfa-74ad-4c1f-9757-a38a11902f1c_ActionId">
    <vt:lpwstr>ad12f72e-d8aa-4479-895f-6205077b5be9</vt:lpwstr>
  </property>
  <property fmtid="{D5CDD505-2E9C-101B-9397-08002B2CF9AE}" pid="8" name="MSIP_Label_15ffddfa-74ad-4c1f-9757-a38a11902f1c_ContentBits">
    <vt:lpwstr>0</vt:lpwstr>
  </property>
  <property fmtid="{D5CDD505-2E9C-101B-9397-08002B2CF9AE}" pid="9" name="MSIP_Label_15ffddfa-74ad-4c1f-9757-a38a11902f1c_Tag">
    <vt:lpwstr>10, 3, 0, 1</vt:lpwstr>
  </property>
</Properties>
</file>